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9" r:id="rId11"/>
    <p:sldId id="268" r:id="rId12"/>
    <p:sldId id="266"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1253" y="40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8704CF6-9991-4269-BB8F-6643C0C1681D}" type="datetimeFigureOut">
              <a:rPr lang="en-US" smtClean="0"/>
              <a:t>1/18/2026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1688873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704CF6-9991-4269-BB8F-6643C0C1681D}"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487235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704CF6-9991-4269-BB8F-6643C0C1681D}"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214829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704CF6-9991-4269-BB8F-6643C0C1681D}"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2181928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704CF6-9991-4269-BB8F-6643C0C1681D}" type="datetimeFigureOut">
              <a:rPr lang="en-US" smtClean="0"/>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372222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704CF6-9991-4269-BB8F-6643C0C1681D}" type="datetimeFigureOut">
              <a:rPr lang="en-US" smtClean="0"/>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106352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704CF6-9991-4269-BB8F-6643C0C1681D}" type="datetimeFigureOut">
              <a:rPr lang="en-US" smtClean="0"/>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2576773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704CF6-9991-4269-BB8F-6643C0C1681D}"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2683996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704CF6-9991-4269-BB8F-6643C0C1681D}"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2217540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704CF6-9991-4269-BB8F-6643C0C1681D}"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2947053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704CF6-9991-4269-BB8F-6643C0C1681D}"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2252686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704CF6-9991-4269-BB8F-6643C0C1681D}"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B6ACC3-9566-49F8-B5B8-0DA062422D6C}"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942344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704CF6-9991-4269-BB8F-6643C0C1681D}"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17883208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8704CF6-9991-4269-BB8F-6643C0C1681D}" type="datetimeFigureOut">
              <a:rPr lang="en-US" smtClean="0"/>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17678227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8704CF6-9991-4269-BB8F-6643C0C1681D}" type="datetimeFigureOut">
              <a:rPr lang="en-US" smtClean="0"/>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35940878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704CF6-9991-4269-BB8F-6643C0C1681D}"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20777472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704CF6-9991-4269-BB8F-6643C0C1681D}"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B6ACC3-9566-49F8-B5B8-0DA062422D6C}" type="slidenum">
              <a:rPr lang="en-US" smtClean="0"/>
              <a:t>‹#›</a:t>
            </a:fld>
            <a:endParaRPr lang="en-US"/>
          </a:p>
        </p:txBody>
      </p:sp>
    </p:spTree>
    <p:extLst>
      <p:ext uri="{BB962C8B-B14F-4D97-AF65-F5344CB8AC3E}">
        <p14:creationId xmlns:p14="http://schemas.microsoft.com/office/powerpoint/2010/main" val="2678674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8704CF6-9991-4269-BB8F-6643C0C1681D}" type="datetimeFigureOut">
              <a:rPr lang="en-US" smtClean="0"/>
              <a:t>1/18/2026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1B6ACC3-9566-49F8-B5B8-0DA062422D6C}" type="slidenum">
              <a:rPr lang="en-US" smtClean="0"/>
              <a:t>‹#›</a:t>
            </a:fld>
            <a:endParaRPr lang="en-US"/>
          </a:p>
        </p:txBody>
      </p:sp>
    </p:spTree>
    <p:extLst>
      <p:ext uri="{BB962C8B-B14F-4D97-AF65-F5344CB8AC3E}">
        <p14:creationId xmlns:p14="http://schemas.microsoft.com/office/powerpoint/2010/main" val="194580230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4D26-F239-1322-D308-7ED8F8779229}"/>
              </a:ext>
            </a:extLst>
          </p:cNvPr>
          <p:cNvSpPr>
            <a:spLocks noGrp="1"/>
          </p:cNvSpPr>
          <p:nvPr>
            <p:ph type="ctrTitle"/>
          </p:nvPr>
        </p:nvSpPr>
        <p:spPr/>
        <p:txBody>
          <a:bodyPr/>
          <a:lstStyle/>
          <a:p>
            <a:r>
              <a:rPr lang="en-US" b="1" dirty="0">
                <a:latin typeface="Times New Roman" panose="02020603050405020304" pitchFamily="18" charset="0"/>
                <a:cs typeface="Times New Roman" panose="02020603050405020304" pitchFamily="18" charset="0"/>
              </a:rPr>
              <a:t>Computer Vision</a:t>
            </a:r>
          </a:p>
        </p:txBody>
      </p:sp>
      <p:sp>
        <p:nvSpPr>
          <p:cNvPr id="3" name="Subtitle 2">
            <a:extLst>
              <a:ext uri="{FF2B5EF4-FFF2-40B4-BE49-F238E27FC236}">
                <a16:creationId xmlns:a16="http://schemas.microsoft.com/office/drawing/2014/main" id="{FC97E91E-0293-9CC9-1FA5-B6139AC620EA}"/>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139603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FC2BA-8236-176E-9E79-82E70885E9B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Group Members</a:t>
            </a:r>
          </a:p>
        </p:txBody>
      </p:sp>
      <p:sp>
        <p:nvSpPr>
          <p:cNvPr id="3" name="Content Placeholder 2">
            <a:extLst>
              <a:ext uri="{FF2B5EF4-FFF2-40B4-BE49-F238E27FC236}">
                <a16:creationId xmlns:a16="http://schemas.microsoft.com/office/drawing/2014/main" id="{E3EDD08E-7FDE-F2FF-BE6A-EDE0C386D5C4}"/>
              </a:ext>
            </a:extLst>
          </p:cNvPr>
          <p:cNvSpPr>
            <a:spLocks noGrp="1"/>
          </p:cNvSpPr>
          <p:nvPr>
            <p:ph idx="1"/>
          </p:nvPr>
        </p:nvSpPr>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Mg Min Han Set Naing		KPTMYK-001298</a:t>
            </a:r>
          </a:p>
          <a:p>
            <a:pPr>
              <a:lnSpc>
                <a:spcPct val="150000"/>
              </a:lnSpc>
            </a:pPr>
            <a:r>
              <a:rPr lang="en-US" dirty="0">
                <a:latin typeface="Times New Roman" panose="02020603050405020304" pitchFamily="18" charset="0"/>
                <a:cs typeface="Times New Roman" panose="02020603050405020304" pitchFamily="18" charset="0"/>
              </a:rPr>
              <a:t>Ma </a:t>
            </a:r>
            <a:r>
              <a:rPr lang="en-US" dirty="0" err="1">
                <a:latin typeface="Times New Roman" panose="02020603050405020304" pitchFamily="18" charset="0"/>
                <a:cs typeface="Times New Roman" panose="02020603050405020304" pitchFamily="18" charset="0"/>
              </a:rPr>
              <a:t>Pann</a:t>
            </a:r>
            <a:r>
              <a:rPr lang="en-US" dirty="0">
                <a:latin typeface="Times New Roman" panose="02020603050405020304" pitchFamily="18" charset="0"/>
                <a:cs typeface="Times New Roman" panose="02020603050405020304" pitchFamily="18" charset="0"/>
              </a:rPr>
              <a:t> Cherry Myo		KPTMYK-001288</a:t>
            </a:r>
          </a:p>
          <a:p>
            <a:pPr>
              <a:lnSpc>
                <a:spcPct val="150000"/>
              </a:lnSpc>
            </a:pPr>
            <a:r>
              <a:rPr lang="en-US" dirty="0">
                <a:latin typeface="Times New Roman" panose="02020603050405020304" pitchFamily="18" charset="0"/>
                <a:cs typeface="Times New Roman" panose="02020603050405020304" pitchFamily="18" charset="0"/>
              </a:rPr>
              <a:t>Ma May </a:t>
            </a:r>
            <a:r>
              <a:rPr lang="en-US" dirty="0" err="1">
                <a:latin typeface="Times New Roman" panose="02020603050405020304" pitchFamily="18" charset="0"/>
                <a:cs typeface="Times New Roman" panose="02020603050405020304" pitchFamily="18" charset="0"/>
              </a:rPr>
              <a:t>Thiri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Paing</a:t>
            </a:r>
            <a:r>
              <a:rPr lang="en-US" dirty="0">
                <a:latin typeface="Times New Roman" panose="02020603050405020304" pitchFamily="18" charset="0"/>
                <a:cs typeface="Times New Roman" panose="02020603050405020304" pitchFamily="18" charset="0"/>
              </a:rPr>
              <a:t>			KPTMYK-001285	</a:t>
            </a:r>
          </a:p>
          <a:p>
            <a:pPr>
              <a:lnSpc>
                <a:spcPct val="150000"/>
              </a:lnSpc>
            </a:pPr>
            <a:r>
              <a:rPr lang="en-US" dirty="0">
                <a:latin typeface="Times New Roman" panose="02020603050405020304" pitchFamily="18" charset="0"/>
                <a:cs typeface="Times New Roman" panose="02020603050405020304" pitchFamily="18" charset="0"/>
              </a:rPr>
              <a:t>Ma </a:t>
            </a:r>
            <a:r>
              <a:rPr lang="en-US" dirty="0" err="1">
                <a:latin typeface="Times New Roman" panose="02020603050405020304" pitchFamily="18" charset="0"/>
                <a:cs typeface="Times New Roman" panose="02020603050405020304" pitchFamily="18" charset="0"/>
              </a:rPr>
              <a:t>Wa</a:t>
            </a:r>
            <a:r>
              <a:rPr lang="en-US" dirty="0">
                <a:latin typeface="Times New Roman" panose="02020603050405020304" pitchFamily="18" charset="0"/>
                <a:cs typeface="Times New Roman" panose="02020603050405020304" pitchFamily="18" charset="0"/>
              </a:rPr>
              <a:t> Thone </a:t>
            </a:r>
            <a:r>
              <a:rPr lang="en-US" dirty="0" err="1">
                <a:latin typeface="Times New Roman" panose="02020603050405020304" pitchFamily="18" charset="0"/>
                <a:cs typeface="Times New Roman" panose="02020603050405020304" pitchFamily="18" charset="0"/>
              </a:rPr>
              <a:t>Tha</a:t>
            </a:r>
            <a:r>
              <a:rPr lang="en-US" dirty="0">
                <a:latin typeface="Times New Roman" panose="02020603050405020304" pitchFamily="18" charset="0"/>
                <a:cs typeface="Times New Roman" panose="02020603050405020304" pitchFamily="18" charset="0"/>
              </a:rPr>
              <a:t> Zin		KPTMYK-001286	</a:t>
            </a:r>
          </a:p>
          <a:p>
            <a:pPr>
              <a:lnSpc>
                <a:spcPct val="150000"/>
              </a:lnSpc>
            </a:pPr>
            <a:r>
              <a:rPr lang="en-US" dirty="0">
                <a:latin typeface="Times New Roman" panose="02020603050405020304" pitchFamily="18" charset="0"/>
                <a:cs typeface="Times New Roman" panose="02020603050405020304" pitchFamily="18" charset="0"/>
              </a:rPr>
              <a:t>Ma Thin </a:t>
            </a:r>
            <a:r>
              <a:rPr lang="en-US" dirty="0" err="1">
                <a:latin typeface="Times New Roman" panose="02020603050405020304" pitchFamily="18" charset="0"/>
                <a:cs typeface="Times New Roman" panose="02020603050405020304" pitchFamily="18" charset="0"/>
              </a:rPr>
              <a:t>Nandar</a:t>
            </a:r>
            <a:r>
              <a:rPr lang="en-US">
                <a:latin typeface="Times New Roman" panose="02020603050405020304" pitchFamily="18" charset="0"/>
                <a:cs typeface="Times New Roman" panose="02020603050405020304" pitchFamily="18" charset="0"/>
              </a:rPr>
              <a:t> Hsu		KPTMYK-001330</a:t>
            </a:r>
            <a:r>
              <a:rPr lang="en-US" dirty="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3345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244B3-BE54-9B0E-84A4-3ED83D56A9D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Outlines</a:t>
            </a:r>
          </a:p>
        </p:txBody>
      </p:sp>
      <p:sp>
        <p:nvSpPr>
          <p:cNvPr id="3" name="Content Placeholder 2">
            <a:extLst>
              <a:ext uri="{FF2B5EF4-FFF2-40B4-BE49-F238E27FC236}">
                <a16:creationId xmlns:a16="http://schemas.microsoft.com/office/drawing/2014/main" id="{220317F2-DDAA-406A-A578-E48692CCDF86}"/>
              </a:ext>
            </a:extLst>
          </p:cNvPr>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What is Computer Vision?</a:t>
            </a:r>
          </a:p>
          <a:p>
            <a:r>
              <a:rPr lang="en-US" dirty="0">
                <a:latin typeface="Times New Roman" panose="02020603050405020304" pitchFamily="18" charset="0"/>
                <a:cs typeface="Times New Roman" panose="02020603050405020304" pitchFamily="18" charset="0"/>
              </a:rPr>
              <a:t>How does Computer Vision work?</a:t>
            </a:r>
          </a:p>
          <a:p>
            <a:r>
              <a:rPr lang="en-US" dirty="0">
                <a:latin typeface="Times New Roman" panose="02020603050405020304" pitchFamily="18" charset="0"/>
                <a:cs typeface="Times New Roman" panose="02020603050405020304" pitchFamily="18" charset="0"/>
              </a:rPr>
              <a:t>Application of Computer Vision?</a:t>
            </a:r>
          </a:p>
          <a:p>
            <a:r>
              <a:rPr lang="en-US" dirty="0">
                <a:latin typeface="Times New Roman" panose="02020603050405020304" pitchFamily="18" charset="0"/>
                <a:cs typeface="Times New Roman" panose="02020603050405020304" pitchFamily="18" charset="0"/>
              </a:rPr>
              <a:t>Computer Vision in Food Recognition</a:t>
            </a:r>
          </a:p>
          <a:p>
            <a:r>
              <a:rPr lang="en-US" dirty="0">
                <a:latin typeface="Times New Roman" panose="02020603050405020304" pitchFamily="18" charset="0"/>
                <a:cs typeface="Times New Roman" panose="02020603050405020304" pitchFamily="18" charset="0"/>
              </a:rPr>
              <a:t>Computer Vision in Image Recognition</a:t>
            </a:r>
          </a:p>
          <a:p>
            <a:r>
              <a:rPr lang="en-US" dirty="0">
                <a:latin typeface="Times New Roman" panose="02020603050405020304" pitchFamily="18" charset="0"/>
                <a:cs typeface="Times New Roman" panose="02020603050405020304" pitchFamily="18" charset="0"/>
              </a:rPr>
              <a:t>Computer Vision in Motion Analysis &amp; Tracking</a:t>
            </a:r>
          </a:p>
          <a:p>
            <a:r>
              <a:rPr lang="en-US" dirty="0">
                <a:latin typeface="Times New Roman" panose="02020603050405020304" pitchFamily="18" charset="0"/>
                <a:cs typeface="Times New Roman" panose="02020603050405020304" pitchFamily="18" charset="0"/>
              </a:rPr>
              <a:t>Advantages and Disadvantages </a:t>
            </a:r>
          </a:p>
          <a:p>
            <a:r>
              <a:rPr lang="en-US" dirty="0">
                <a:latin typeface="Times New Roman" panose="02020603050405020304" pitchFamily="18" charset="0"/>
                <a:cs typeface="Times New Roman" panose="02020603050405020304" pitchFamily="18" charset="0"/>
              </a:rPr>
              <a:t>Benefits of Computer Vision</a:t>
            </a:r>
          </a:p>
        </p:txBody>
      </p:sp>
    </p:spTree>
    <p:extLst>
      <p:ext uri="{BB962C8B-B14F-4D97-AF65-F5344CB8AC3E}">
        <p14:creationId xmlns:p14="http://schemas.microsoft.com/office/powerpoint/2010/main" val="1624587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D4587-DAFC-D5EE-E915-73DD3B6F65BB}"/>
              </a:ext>
            </a:extLst>
          </p:cNvPr>
          <p:cNvSpPr>
            <a:spLocks noGrp="1"/>
          </p:cNvSpPr>
          <p:nvPr>
            <p:ph type="title"/>
          </p:nvPr>
        </p:nvSpPr>
        <p:spPr>
          <a:xfrm>
            <a:off x="838200" y="365125"/>
            <a:ext cx="10515600" cy="955675"/>
          </a:xfrm>
        </p:spPr>
        <p:txBody>
          <a:bodyPr/>
          <a:lstStyle/>
          <a:p>
            <a:pPr algn="ctr"/>
            <a:r>
              <a:rPr lang="en-US" b="1" dirty="0">
                <a:latin typeface="Times New Roman" panose="02020603050405020304" pitchFamily="18" charset="0"/>
                <a:cs typeface="Times New Roman" panose="02020603050405020304" pitchFamily="18" charset="0"/>
              </a:rPr>
              <a:t>What is Computer Vision?</a:t>
            </a:r>
          </a:p>
        </p:txBody>
      </p:sp>
      <p:sp>
        <p:nvSpPr>
          <p:cNvPr id="3" name="Content Placeholder 2">
            <a:extLst>
              <a:ext uri="{FF2B5EF4-FFF2-40B4-BE49-F238E27FC236}">
                <a16:creationId xmlns:a16="http://schemas.microsoft.com/office/drawing/2014/main" id="{469366EC-A78E-41CA-59EA-366746DB3378}"/>
              </a:ext>
            </a:extLst>
          </p:cNvPr>
          <p:cNvSpPr>
            <a:spLocks noGrp="1"/>
          </p:cNvSpPr>
          <p:nvPr>
            <p:ph idx="1"/>
          </p:nvPr>
        </p:nvSpPr>
        <p:spPr>
          <a:xfrm>
            <a:off x="685800" y="1754505"/>
            <a:ext cx="10515600" cy="4351338"/>
          </a:xfrm>
        </p:spPr>
        <p:txBody>
          <a:bodyPr/>
          <a:lstStyle/>
          <a:p>
            <a:pPr>
              <a:lnSpc>
                <a:spcPct val="150000"/>
              </a:lnSpc>
            </a:pPr>
            <a:r>
              <a:rPr lang="en-US" sz="2800" dirty="0">
                <a:latin typeface="Times New Roman" panose="02020603050405020304" pitchFamily="18" charset="0"/>
                <a:cs typeface="Times New Roman" panose="02020603050405020304" pitchFamily="18" charset="0"/>
              </a:rPr>
              <a:t>Computer Vision (CV) is a scientific and engineering field within Artificial     Intelligence (AI) that focuses on enabling computers to acquire, process, analyze, and understand visual information from digital images and videos in order to extract meaningful facts and make decisions.</a:t>
            </a:r>
          </a:p>
          <a:p>
            <a:endParaRPr lang="en-US" dirty="0"/>
          </a:p>
        </p:txBody>
      </p:sp>
    </p:spTree>
    <p:extLst>
      <p:ext uri="{BB962C8B-B14F-4D97-AF65-F5344CB8AC3E}">
        <p14:creationId xmlns:p14="http://schemas.microsoft.com/office/powerpoint/2010/main" val="2924887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F5780-8BCA-6E99-629A-4FBFB9997347}"/>
              </a:ext>
            </a:extLst>
          </p:cNvPr>
          <p:cNvSpPr>
            <a:spLocks noGrp="1"/>
          </p:cNvSpPr>
          <p:nvPr>
            <p:ph type="title"/>
          </p:nvPr>
        </p:nvSpPr>
        <p:spPr>
          <a:xfrm>
            <a:off x="675640" y="466725"/>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How does Computer Vision work?</a:t>
            </a:r>
            <a:br>
              <a:rPr lang="en-US" sz="4000" b="1" dirty="0">
                <a:latin typeface="Times New Roman" panose="02020603050405020304" pitchFamily="18"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D13104-80D9-ABFA-0240-18FD55302B67}"/>
              </a:ext>
            </a:extLst>
          </p:cNvPr>
          <p:cNvSpPr>
            <a:spLocks noGrp="1"/>
          </p:cNvSpPr>
          <p:nvPr>
            <p:ph idx="1"/>
          </p:nvPr>
        </p:nvSpPr>
        <p:spPr>
          <a:xfrm>
            <a:off x="563880" y="1690688"/>
            <a:ext cx="10515600" cy="4351338"/>
          </a:xfrm>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Computer Vision is a technology that enables computers to “see” and understand images like the human eye. It takes photos or videos as input and processes them using AI techniques to automatically identify objects, people, and food items. In Food Recognition, Computer Vision can classify food images and estimate their calories and nutritional values, making it useful for diet control, health monitoring, fitness apps, and nutrition research.</a:t>
            </a:r>
          </a:p>
        </p:txBody>
      </p:sp>
    </p:spTree>
    <p:extLst>
      <p:ext uri="{BB962C8B-B14F-4D97-AF65-F5344CB8AC3E}">
        <p14:creationId xmlns:p14="http://schemas.microsoft.com/office/powerpoint/2010/main" val="2799164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2896F-9D16-3741-BC7F-010AFF227858}"/>
              </a:ext>
            </a:extLst>
          </p:cNvPr>
          <p:cNvSpPr>
            <a:spLocks noGrp="1"/>
          </p:cNvSpPr>
          <p:nvPr>
            <p:ph type="title"/>
          </p:nvPr>
        </p:nvSpPr>
        <p:spPr>
          <a:xfrm>
            <a:off x="949960" y="681037"/>
            <a:ext cx="10515600" cy="1325563"/>
          </a:xfrm>
        </p:spPr>
        <p:txBody>
          <a:bodyPr/>
          <a:lstStyle/>
          <a:p>
            <a:pPr algn="ctr"/>
            <a:r>
              <a:rPr lang="en-US" b="1" dirty="0">
                <a:latin typeface="Times New Roman" panose="02020603050405020304" pitchFamily="18" charset="0"/>
                <a:cs typeface="Times New Roman" panose="02020603050405020304" pitchFamily="18" charset="0"/>
              </a:rPr>
              <a:t>Application of Computer Vision?</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442D71D-A572-5583-4D47-710EF701DB53}"/>
              </a:ext>
            </a:extLst>
          </p:cNvPr>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In Food Recognition</a:t>
            </a:r>
          </a:p>
          <a:p>
            <a:pPr>
              <a:lnSpc>
                <a:spcPct val="150000"/>
              </a:lnSpc>
            </a:pPr>
            <a:r>
              <a:rPr lang="en-US" dirty="0">
                <a:latin typeface="Times New Roman" panose="02020603050405020304" pitchFamily="18" charset="0"/>
                <a:cs typeface="Times New Roman" panose="02020603050405020304" pitchFamily="18" charset="0"/>
              </a:rPr>
              <a:t>In Image Recognition</a:t>
            </a:r>
          </a:p>
          <a:p>
            <a:pPr>
              <a:lnSpc>
                <a:spcPct val="150000"/>
              </a:lnSpc>
            </a:pPr>
            <a:r>
              <a:rPr lang="en-US" dirty="0">
                <a:latin typeface="Times New Roman" panose="02020603050405020304" pitchFamily="18" charset="0"/>
                <a:cs typeface="Times New Roman" panose="02020603050405020304" pitchFamily="18" charset="0"/>
              </a:rPr>
              <a:t>In Motion Analysis &amp; Tracking</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3417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81591-01EF-C72F-11CF-1B203B1ED019}"/>
              </a:ext>
            </a:extLst>
          </p:cNvPr>
          <p:cNvSpPr>
            <a:spLocks noGrp="1"/>
          </p:cNvSpPr>
          <p:nvPr>
            <p:ph type="title"/>
          </p:nvPr>
        </p:nvSpPr>
        <p:spPr/>
        <p:txBody>
          <a:bodyPr>
            <a:normAutofit fontScale="90000"/>
          </a:bodyPr>
          <a:lstStyle/>
          <a:p>
            <a:pPr algn="ctr"/>
            <a:r>
              <a:rPr lang="en-US" b="1" dirty="0">
                <a:latin typeface="Times New Roman" panose="02020603050405020304" pitchFamily="18" charset="0"/>
                <a:cs typeface="Times New Roman" panose="02020603050405020304" pitchFamily="18" charset="0"/>
              </a:rPr>
              <a:t>Computer Vision in Food Recognition</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C7CD31-A987-3A7C-A94B-037B19CD2BF0}"/>
              </a:ext>
            </a:extLst>
          </p:cNvPr>
          <p:cNvSpPr>
            <a:spLocks noGrp="1"/>
          </p:cNvSpPr>
          <p:nvPr>
            <p:ph idx="1"/>
          </p:nvPr>
        </p:nvSpPr>
        <p:spPr>
          <a:xfrm>
            <a:off x="4166886" y="1442391"/>
            <a:ext cx="8129910" cy="6161802"/>
          </a:xfrm>
        </p:spPr>
        <p:txBody>
          <a:bodyPr/>
          <a:lstStyle/>
          <a:p>
            <a:r>
              <a:rPr lang="en-US" dirty="0">
                <a:latin typeface="Times New Roman" panose="02020603050405020304" pitchFamily="18" charset="0"/>
                <a:cs typeface="Times New Roman" panose="02020603050405020304" pitchFamily="18" charset="0"/>
              </a:rPr>
              <a:t>Food Recognition is a computer vision technology used to identify food from images or videos.</a:t>
            </a:r>
          </a:p>
          <a:p>
            <a:r>
              <a:rPr lang="en-US" dirty="0">
                <a:latin typeface="Times New Roman" panose="02020603050405020304" pitchFamily="18" charset="0"/>
                <a:cs typeface="Times New Roman" panose="02020603050405020304" pitchFamily="18" charset="0"/>
              </a:rPr>
              <a:t>It uses Artificial Intelligence (AI) and Deep Learning methods.</a:t>
            </a:r>
          </a:p>
          <a:p>
            <a:r>
              <a:rPr lang="en-US" dirty="0">
                <a:latin typeface="Times New Roman" panose="02020603050405020304" pitchFamily="18" charset="0"/>
                <a:cs typeface="Times New Roman" panose="02020603050405020304" pitchFamily="18" charset="0"/>
              </a:rPr>
              <a:t>Convolutional Neural Networks (CNNs) are commonly used for food recognition.</a:t>
            </a:r>
          </a:p>
          <a:p>
            <a:r>
              <a:rPr lang="en-US" dirty="0">
                <a:latin typeface="Times New Roman" panose="02020603050405020304" pitchFamily="18" charset="0"/>
                <a:cs typeface="Times New Roman" panose="02020603050405020304" pitchFamily="18" charset="0"/>
              </a:rPr>
              <a:t>The system analyzes visual features such as:</a:t>
            </a:r>
          </a:p>
          <a:p>
            <a:pPr lvl="1"/>
            <a:r>
              <a:rPr lang="en-US" dirty="0">
                <a:latin typeface="Times New Roman" panose="02020603050405020304" pitchFamily="18" charset="0"/>
                <a:cs typeface="Times New Roman" panose="02020603050405020304" pitchFamily="18" charset="0"/>
              </a:rPr>
              <a:t>Color</a:t>
            </a:r>
          </a:p>
          <a:p>
            <a:pPr lvl="1"/>
            <a:r>
              <a:rPr lang="en-US" dirty="0">
                <a:latin typeface="Times New Roman" panose="02020603050405020304" pitchFamily="18" charset="0"/>
                <a:cs typeface="Times New Roman" panose="02020603050405020304" pitchFamily="18" charset="0"/>
              </a:rPr>
              <a:t>Shape</a:t>
            </a:r>
          </a:p>
          <a:p>
            <a:pPr lvl="1"/>
            <a:r>
              <a:rPr lang="en-US" dirty="0">
                <a:latin typeface="Times New Roman" panose="02020603050405020304" pitchFamily="18" charset="0"/>
                <a:cs typeface="Times New Roman" panose="02020603050405020304" pitchFamily="18" charset="0"/>
              </a:rPr>
              <a:t>Texture</a:t>
            </a:r>
          </a:p>
          <a:p>
            <a:r>
              <a:rPr lang="en-US" dirty="0">
                <a:latin typeface="Times New Roman" panose="02020603050405020304" pitchFamily="18" charset="0"/>
                <a:cs typeface="Times New Roman" panose="02020603050405020304" pitchFamily="18" charset="0"/>
              </a:rPr>
              <a:t>Based on these features, the model classifies the type of food shown in the image.</a:t>
            </a:r>
          </a:p>
        </p:txBody>
      </p:sp>
      <p:pic>
        <p:nvPicPr>
          <p:cNvPr id="1026" name="Picture 2" descr="Food Classification with Custom Vision Service - ISE Developer Blog">
            <a:extLst>
              <a:ext uri="{FF2B5EF4-FFF2-40B4-BE49-F238E27FC236}">
                <a16:creationId xmlns:a16="http://schemas.microsoft.com/office/drawing/2014/main" id="{44F83757-E8E8-F007-94E7-616CFFF858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49" y="1357803"/>
            <a:ext cx="4166886" cy="254205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34EAB79-CB60-1D97-C141-6DF066DBB0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897" y="4087797"/>
            <a:ext cx="4027989" cy="246032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0635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FD44-14AC-5E68-0FAA-4BF668E5A012}"/>
              </a:ext>
            </a:extLst>
          </p:cNvPr>
          <p:cNvSpPr>
            <a:spLocks noGrp="1"/>
          </p:cNvSpPr>
          <p:nvPr>
            <p:ph type="title"/>
          </p:nvPr>
        </p:nvSpPr>
        <p:spPr/>
        <p:txBody>
          <a:bodyPr>
            <a:normAutofit fontScale="90000"/>
          </a:bodyPr>
          <a:lstStyle/>
          <a:p>
            <a:pPr algn="ctr"/>
            <a:r>
              <a:rPr lang="en-US" b="1" dirty="0">
                <a:latin typeface="Times New Roman" panose="02020603050405020304" pitchFamily="18" charset="0"/>
                <a:cs typeface="Times New Roman" panose="02020603050405020304" pitchFamily="18" charset="0"/>
              </a:rPr>
              <a:t>Computer Vision in Image Recognition</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CD09FDD-C2F5-450A-ECB9-B90EB153CFA7}"/>
              </a:ext>
            </a:extLst>
          </p:cNvPr>
          <p:cNvSpPr>
            <a:spLocks noGrp="1"/>
          </p:cNvSpPr>
          <p:nvPr>
            <p:ph idx="1"/>
          </p:nvPr>
        </p:nvSpPr>
        <p:spPr>
          <a:xfrm>
            <a:off x="4486798" y="1589088"/>
            <a:ext cx="7604760" cy="4361815"/>
          </a:xfrm>
        </p:spPr>
        <p:txBody>
          <a:bodyPr>
            <a:noAutofit/>
          </a:bodyPr>
          <a:lstStyle/>
          <a:p>
            <a:pPr algn="just">
              <a:lnSpc>
                <a:spcPct val="100000"/>
              </a:lnSpc>
            </a:pPr>
            <a:r>
              <a:rPr lang="en-US" sz="2400" dirty="0">
                <a:latin typeface="Times New Roman" panose="02020603050405020304" pitchFamily="18" charset="0"/>
                <a:cs typeface="Times New Roman" panose="02020603050405020304" pitchFamily="18" charset="0"/>
              </a:rPr>
              <a:t>Image recognition is a technology that enables computers or machines to identify and understand objects, people, text, or features within digital images or videos automatically.</a:t>
            </a:r>
          </a:p>
          <a:p>
            <a:pPr algn="just">
              <a:lnSpc>
                <a:spcPct val="100000"/>
              </a:lnSpc>
            </a:pPr>
            <a:r>
              <a:rPr lang="en-US" sz="2400" dirty="0">
                <a:latin typeface="Times New Roman" panose="02020603050405020304" pitchFamily="18" charset="0"/>
                <a:cs typeface="Times New Roman" panose="02020603050405020304" pitchFamily="18" charset="0"/>
              </a:rPr>
              <a:t>simple terms, it’s like teaching a computer to "see" and "recognize" what’s in a picture—whether that’s a face, a car, a handwritten number, or anything else.</a:t>
            </a:r>
          </a:p>
          <a:p>
            <a:pPr algn="just">
              <a:lnSpc>
                <a:spcPct val="100000"/>
              </a:lnSpc>
            </a:pPr>
            <a:r>
              <a:rPr lang="en-US" sz="2400" dirty="0">
                <a:latin typeface="Times New Roman" panose="02020603050405020304" pitchFamily="18" charset="0"/>
                <a:cs typeface="Times New Roman" panose="02020603050405020304" pitchFamily="18" charset="0"/>
              </a:rPr>
              <a:t>This is usually done using artificial intelligence techniques such as machine learning and deep learning, where the system learns from lots of example images to figure out patterns and features that help it recognize new images it hasn’t seen before.</a:t>
            </a:r>
          </a:p>
        </p:txBody>
      </p:sp>
      <p:pic>
        <p:nvPicPr>
          <p:cNvPr id="2050" name="Picture 2" descr="Meta releases tool to detect computer vision bias">
            <a:extLst>
              <a:ext uri="{FF2B5EF4-FFF2-40B4-BE49-F238E27FC236}">
                <a16:creationId xmlns:a16="http://schemas.microsoft.com/office/drawing/2014/main" id="{0BE70FD4-6F60-1D58-AB5D-E2BC649162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726" y="1923467"/>
            <a:ext cx="4011175" cy="3412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5302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02507-EE26-F2C0-9E77-27EB8EEF4D00}"/>
              </a:ext>
            </a:extLst>
          </p:cNvPr>
          <p:cNvSpPr>
            <a:spLocks noGrp="1"/>
          </p:cNvSpPr>
          <p:nvPr>
            <p:ph type="title"/>
          </p:nvPr>
        </p:nvSpPr>
        <p:spPr>
          <a:xfrm>
            <a:off x="713740" y="294005"/>
            <a:ext cx="10764520" cy="1325563"/>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Computer vision in Motion Analysis &amp; Tracking</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CFA731-9F26-396F-A934-86E45D0DBC46}"/>
              </a:ext>
            </a:extLst>
          </p:cNvPr>
          <p:cNvSpPr>
            <a:spLocks noGrp="1"/>
          </p:cNvSpPr>
          <p:nvPr>
            <p:ph idx="1"/>
          </p:nvPr>
        </p:nvSpPr>
        <p:spPr>
          <a:xfrm>
            <a:off x="2608869" y="1276956"/>
            <a:ext cx="9583131" cy="5910921"/>
          </a:xfrm>
        </p:spPr>
        <p:txBody>
          <a:bodyPr>
            <a:noAutofit/>
          </a:bodyPr>
          <a:lstStyle/>
          <a:p>
            <a:pPr algn="just">
              <a:lnSpc>
                <a:spcPct val="100000"/>
              </a:lnSpc>
            </a:pPr>
            <a:r>
              <a:rPr lang="en-US" sz="2400" dirty="0">
                <a:latin typeface="Times New Roman" panose="02020603050405020304" pitchFamily="18" charset="0"/>
                <a:cs typeface="Times New Roman" panose="02020603050405020304" pitchFamily="18" charset="0"/>
              </a:rPr>
              <a:t>Motion Analysis and Tracking refers to the automatic and systematic observation, recording, and study of moving objects, people, or items within images or videos.</a:t>
            </a:r>
          </a:p>
          <a:p>
            <a:pPr algn="just">
              <a:lnSpc>
                <a:spcPct val="100000"/>
              </a:lnSpc>
            </a:pPr>
            <a:r>
              <a:rPr lang="en-US" sz="2400" dirty="0">
                <a:latin typeface="Times New Roman" panose="02020603050405020304" pitchFamily="18" charset="0"/>
                <a:cs typeface="Times New Roman" panose="02020603050405020304" pitchFamily="18" charset="0"/>
              </a:rPr>
              <a:t>To understand information such as the position, trajectory, speed, and movement patterns of a moving object.</a:t>
            </a:r>
          </a:p>
          <a:p>
            <a:pPr algn="just">
              <a:lnSpc>
                <a:spcPct val="100000"/>
              </a:lnSpc>
            </a:pPr>
            <a:r>
              <a:rPr lang="en-US" sz="2400" dirty="0">
                <a:latin typeface="Times New Roman" panose="02020603050405020304" pitchFamily="18" charset="0"/>
                <a:cs typeface="Times New Roman" panose="02020603050405020304" pitchFamily="18" charset="0"/>
              </a:rPr>
              <a:t>It is used in motion-related technologies, behavior prediction, sports coaching, security systems, and film/game production.</a:t>
            </a:r>
          </a:p>
          <a:p>
            <a:pPr algn="just">
              <a:lnSpc>
                <a:spcPct val="100000"/>
              </a:lnSpc>
            </a:pPr>
            <a:r>
              <a:rPr lang="en-US" sz="2400" dirty="0">
                <a:latin typeface="Times New Roman" panose="02020603050405020304" pitchFamily="18" charset="0"/>
                <a:cs typeface="Times New Roman" panose="02020603050405020304" pitchFamily="18" charset="0"/>
              </a:rPr>
              <a:t>Detection — Identifying moving objects within the video.</a:t>
            </a:r>
          </a:p>
          <a:p>
            <a:pPr algn="just">
              <a:lnSpc>
                <a:spcPct val="100000"/>
              </a:lnSpc>
            </a:pPr>
            <a:r>
              <a:rPr lang="en-US" sz="2400" dirty="0">
                <a:latin typeface="Times New Roman" panose="02020603050405020304" pitchFamily="18" charset="0"/>
                <a:cs typeface="Times New Roman" panose="02020603050405020304" pitchFamily="18" charset="0"/>
              </a:rPr>
              <a:t>Tracking — Continuously locating the objects from one frame to the next to determine their path of movement.</a:t>
            </a:r>
          </a:p>
          <a:p>
            <a:pPr algn="just">
              <a:lnSpc>
                <a:spcPct val="100000"/>
              </a:lnSpc>
            </a:pPr>
            <a:r>
              <a:rPr lang="en-US" sz="2400" dirty="0">
                <a:latin typeface="Times New Roman" panose="02020603050405020304" pitchFamily="18" charset="0"/>
                <a:cs typeface="Times New Roman" panose="02020603050405020304" pitchFamily="18" charset="0"/>
              </a:rPr>
              <a:t>Analysis — Using the collected motion data to interpret behaviors, patterns, speed, and more.</a:t>
            </a:r>
          </a:p>
          <a:p>
            <a:pPr>
              <a:lnSpc>
                <a:spcPct val="100000"/>
              </a:lnSpc>
            </a:pPr>
            <a:endParaRPr lang="en-US" sz="2400" dirty="0"/>
          </a:p>
        </p:txBody>
      </p:sp>
      <p:pic>
        <p:nvPicPr>
          <p:cNvPr id="3074" name="Picture 2" descr="Frontiers | 3D Tracking of Human Motion Using Visual Skeletonization and  Stereoscopic Vision">
            <a:extLst>
              <a:ext uri="{FF2B5EF4-FFF2-40B4-BE49-F238E27FC236}">
                <a16:creationId xmlns:a16="http://schemas.microsoft.com/office/drawing/2014/main" id="{0340DEF9-17E7-41B7-7A21-BEA693D316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2038" y="717631"/>
            <a:ext cx="4664075" cy="6140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212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CC74A-7186-9C63-9B9B-C4E0E5B66907}"/>
              </a:ext>
            </a:extLst>
          </p:cNvPr>
          <p:cNvSpPr>
            <a:spLocks noGrp="1"/>
          </p:cNvSpPr>
          <p:nvPr>
            <p:ph type="title"/>
          </p:nvPr>
        </p:nvSpPr>
        <p:spPr>
          <a:xfrm>
            <a:off x="901700" y="836642"/>
            <a:ext cx="10388600" cy="1026795"/>
          </a:xfrm>
        </p:spPr>
        <p:txBody>
          <a:bodyPr>
            <a:noAutofit/>
          </a:bodyPr>
          <a:lstStyle/>
          <a:p>
            <a:pPr algn="ctr"/>
            <a:r>
              <a:rPr lang="en-US" sz="4000" b="1" dirty="0">
                <a:latin typeface="Times New Roman" panose="02020603050405020304" pitchFamily="18" charset="0"/>
                <a:cs typeface="Times New Roman" panose="02020603050405020304" pitchFamily="18" charset="0"/>
              </a:rPr>
              <a:t>Advantages and Disadvantages </a:t>
            </a:r>
            <a:endParaRPr lang="en-US" sz="4000" b="1" dirty="0"/>
          </a:p>
        </p:txBody>
      </p:sp>
      <p:sp>
        <p:nvSpPr>
          <p:cNvPr id="3" name="Content Placeholder 2">
            <a:extLst>
              <a:ext uri="{FF2B5EF4-FFF2-40B4-BE49-F238E27FC236}">
                <a16:creationId xmlns:a16="http://schemas.microsoft.com/office/drawing/2014/main" id="{E8764D33-E32E-BC2E-6AC7-AF0BA6346CEE}"/>
              </a:ext>
            </a:extLst>
          </p:cNvPr>
          <p:cNvSpPr>
            <a:spLocks noGrp="1"/>
          </p:cNvSpPr>
          <p:nvPr>
            <p:ph idx="1"/>
          </p:nvPr>
        </p:nvSpPr>
        <p:spPr>
          <a:xfrm>
            <a:off x="1017768" y="1670020"/>
            <a:ext cx="10515600" cy="4351338"/>
          </a:xfrm>
        </p:spPr>
        <p:txBody>
          <a:bodyPr>
            <a:normAutofit/>
          </a:bodyPr>
          <a:lstStyle/>
          <a:p>
            <a:pPr marL="0" indent="0">
              <a:buNone/>
            </a:pPr>
            <a:r>
              <a:rPr lang="en-US" sz="3600" b="1" dirty="0">
                <a:latin typeface="Times New Roman" panose="02020603050405020304" pitchFamily="18" charset="0"/>
                <a:cs typeface="Times New Roman" panose="02020603050405020304" pitchFamily="18" charset="0"/>
              </a:rPr>
              <a:t>Advantages</a:t>
            </a:r>
            <a:endParaRPr lang="en-US" dirty="0"/>
          </a:p>
          <a:p>
            <a:r>
              <a:rPr lang="en-US" dirty="0">
                <a:latin typeface="Times New Roman" panose="02020603050405020304" pitchFamily="18" charset="0"/>
                <a:cs typeface="Times New Roman" panose="02020603050405020304" pitchFamily="18" charset="0"/>
              </a:rPr>
              <a:t>While generally harmful, computer viruses can be useful in controlled environments such as research labs, virus analysis, and cybersecurity training:</a:t>
            </a:r>
          </a:p>
          <a:p>
            <a:r>
              <a:rPr lang="en-US" dirty="0">
                <a:latin typeface="Times New Roman" panose="02020603050405020304" pitchFamily="18" charset="0"/>
                <a:cs typeface="Times New Roman" panose="02020603050405020304" pitchFamily="18" charset="0"/>
              </a:rPr>
              <a:t>Security Testing: Can be used to test antivirus software and network security systems.</a:t>
            </a:r>
          </a:p>
          <a:p>
            <a:r>
              <a:rPr lang="en-US" dirty="0">
                <a:latin typeface="Times New Roman" panose="02020603050405020304" pitchFamily="18" charset="0"/>
                <a:cs typeface="Times New Roman" panose="02020603050405020304" pitchFamily="18" charset="0"/>
              </a:rPr>
              <a:t>Awareness &amp; Education: Helps users learn safe computing practices and understand cybersecurity risks.</a:t>
            </a:r>
          </a:p>
          <a:p>
            <a:endParaRPr lang="en-US" dirty="0"/>
          </a:p>
        </p:txBody>
      </p:sp>
    </p:spTree>
    <p:extLst>
      <p:ext uri="{BB962C8B-B14F-4D97-AF65-F5344CB8AC3E}">
        <p14:creationId xmlns:p14="http://schemas.microsoft.com/office/powerpoint/2010/main" val="1935887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B7C1F8-B865-7A8C-B4A5-9ABEE19D761D}"/>
              </a:ext>
            </a:extLst>
          </p:cNvPr>
          <p:cNvSpPr>
            <a:spLocks noGrp="1"/>
          </p:cNvSpPr>
          <p:nvPr>
            <p:ph idx="1"/>
          </p:nvPr>
        </p:nvSpPr>
        <p:spPr>
          <a:xfrm>
            <a:off x="1143000" y="1786500"/>
            <a:ext cx="9905999" cy="3541714"/>
          </a:xfrm>
        </p:spPr>
        <p:txBody>
          <a:bodyPr>
            <a:normAutofit fontScale="92500" lnSpcReduction="20000"/>
          </a:bodyPr>
          <a:lstStyle/>
          <a:p>
            <a:pPr marL="0" indent="0">
              <a:buNone/>
            </a:pPr>
            <a:r>
              <a:rPr lang="en-US" sz="3900" b="1" dirty="0">
                <a:latin typeface="Times New Roman" panose="02020603050405020304" pitchFamily="18" charset="0"/>
                <a:cs typeface="Times New Roman" panose="02020603050405020304" pitchFamily="18" charset="0"/>
              </a:rPr>
              <a:t>Disadvantages</a:t>
            </a:r>
            <a:endParaRPr lang="en-US" sz="3000"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Data Loss</a:t>
            </a:r>
          </a:p>
          <a:p>
            <a:r>
              <a:rPr lang="en-US" dirty="0">
                <a:latin typeface="Times New Roman" panose="02020603050405020304" pitchFamily="18" charset="0"/>
                <a:cs typeface="Times New Roman" panose="02020603050405020304" pitchFamily="18" charset="0"/>
              </a:rPr>
              <a:t>System Failure (System Crash)</a:t>
            </a:r>
          </a:p>
          <a:p>
            <a:r>
              <a:rPr lang="en-US" dirty="0">
                <a:latin typeface="Times New Roman" panose="02020603050405020304" pitchFamily="18" charset="0"/>
                <a:cs typeface="Times New Roman" panose="02020603050405020304" pitchFamily="18" charset="0"/>
              </a:rPr>
              <a:t>Loss of Personal Data Security</a:t>
            </a:r>
          </a:p>
          <a:p>
            <a:r>
              <a:rPr lang="en-US" dirty="0">
                <a:latin typeface="Times New Roman" panose="02020603050405020304" pitchFamily="18" charset="0"/>
                <a:cs typeface="Times New Roman" panose="02020603050405020304" pitchFamily="18" charset="0"/>
              </a:rPr>
              <a:t>Internet/Network Disruption</a:t>
            </a:r>
          </a:p>
          <a:p>
            <a:r>
              <a:rPr lang="en-US" dirty="0">
                <a:latin typeface="Times New Roman" panose="02020603050405020304" pitchFamily="18" charset="0"/>
                <a:cs typeface="Times New Roman" panose="02020603050405020304" pitchFamily="18" charset="0"/>
              </a:rPr>
              <a:t>Financial Loss</a:t>
            </a:r>
          </a:p>
          <a:p>
            <a:r>
              <a:rPr lang="en-US" dirty="0">
                <a:latin typeface="Times New Roman" panose="02020603050405020304" pitchFamily="18" charset="0"/>
                <a:cs typeface="Times New Roman" panose="02020603050405020304" pitchFamily="18" charset="0"/>
              </a:rPr>
              <a:t>Time Wastage</a:t>
            </a:r>
          </a:p>
          <a:p>
            <a:endParaRPr lang="en-US" dirty="0"/>
          </a:p>
        </p:txBody>
      </p:sp>
      <p:sp>
        <p:nvSpPr>
          <p:cNvPr id="4" name="Title 1">
            <a:extLst>
              <a:ext uri="{FF2B5EF4-FFF2-40B4-BE49-F238E27FC236}">
                <a16:creationId xmlns:a16="http://schemas.microsoft.com/office/drawing/2014/main" id="{D58ECDB4-12FA-BD48-4E57-E97A2B30CD5E}"/>
              </a:ext>
            </a:extLst>
          </p:cNvPr>
          <p:cNvSpPr txBox="1">
            <a:spLocks/>
          </p:cNvSpPr>
          <p:nvPr/>
        </p:nvSpPr>
        <p:spPr>
          <a:xfrm>
            <a:off x="784365" y="759705"/>
            <a:ext cx="10388600" cy="1026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000" b="1" dirty="0">
                <a:latin typeface="Times New Roman" panose="02020603050405020304" pitchFamily="18" charset="0"/>
                <a:cs typeface="Times New Roman" panose="02020603050405020304" pitchFamily="18" charset="0"/>
              </a:rPr>
              <a:t>Advantages and Disadvantages </a:t>
            </a:r>
            <a:endParaRPr lang="en-US" sz="4000" b="1" dirty="0"/>
          </a:p>
        </p:txBody>
      </p:sp>
    </p:spTree>
    <p:extLst>
      <p:ext uri="{BB962C8B-B14F-4D97-AF65-F5344CB8AC3E}">
        <p14:creationId xmlns:p14="http://schemas.microsoft.com/office/powerpoint/2010/main" val="1956519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01042-70A0-6F13-9B35-D4939EA49D64}"/>
              </a:ext>
            </a:extLst>
          </p:cNvPr>
          <p:cNvSpPr>
            <a:spLocks noGrp="1"/>
          </p:cNvSpPr>
          <p:nvPr>
            <p:ph type="title"/>
          </p:nvPr>
        </p:nvSpPr>
        <p:spPr>
          <a:xfrm>
            <a:off x="838200" y="373855"/>
            <a:ext cx="10515600" cy="1325563"/>
          </a:xfrm>
        </p:spPr>
        <p:txBody>
          <a:bodyPr/>
          <a:lstStyle/>
          <a:p>
            <a:pPr algn="ctr"/>
            <a:r>
              <a:rPr lang="en-US" b="1" dirty="0">
                <a:latin typeface="Times New Roman" panose="02020603050405020304" pitchFamily="18" charset="0"/>
                <a:cs typeface="Times New Roman" panose="02020603050405020304" pitchFamily="18" charset="0"/>
              </a:rPr>
              <a:t>Benefits of Computer Vision</a:t>
            </a:r>
            <a:br>
              <a:rPr lang="en-US" dirty="0"/>
            </a:br>
            <a:endParaRPr lang="en-US" dirty="0"/>
          </a:p>
        </p:txBody>
      </p:sp>
      <p:sp>
        <p:nvSpPr>
          <p:cNvPr id="3" name="Content Placeholder 2">
            <a:extLst>
              <a:ext uri="{FF2B5EF4-FFF2-40B4-BE49-F238E27FC236}">
                <a16:creationId xmlns:a16="http://schemas.microsoft.com/office/drawing/2014/main" id="{5F3F85C4-B551-81D9-91AB-D7CD54993F2D}"/>
              </a:ext>
            </a:extLst>
          </p:cNvPr>
          <p:cNvSpPr>
            <a:spLocks noGrp="1"/>
          </p:cNvSpPr>
          <p:nvPr>
            <p:ph idx="1"/>
          </p:nvPr>
        </p:nvSpPr>
        <p:spPr>
          <a:xfrm>
            <a:off x="665480" y="1699418"/>
            <a:ext cx="10515600" cy="4351338"/>
          </a:xfrm>
        </p:spPr>
        <p:txBody>
          <a:bodyPr>
            <a:normAutofit lnSpcReduction="10000"/>
          </a:bodyPr>
          <a:lstStyle/>
          <a:p>
            <a:pPr>
              <a:lnSpc>
                <a:spcPct val="150000"/>
              </a:lnSpc>
            </a:pPr>
            <a:r>
              <a:rPr lang="en-US" dirty="0">
                <a:latin typeface="Times New Roman" panose="02020603050405020304" pitchFamily="18" charset="0"/>
                <a:cs typeface="Times New Roman" panose="02020603050405020304" pitchFamily="18" charset="0"/>
              </a:rPr>
              <a:t>Computer Vision enables tasks to be performed automatically, reduces human errors, and provides accurate and consistent results. It can process image and video data quickly in real-time and can monitor dangerous environments without human presence. Additionally, it allows for data collection such as object detection, pattern recognition, and trend analysis, and can be widely applied in fields like healthcare, security, retail, food recognition, and self-driving cars. Using this technology also reduces labor costs and improves operational efficiency.</a:t>
            </a:r>
          </a:p>
        </p:txBody>
      </p:sp>
    </p:spTree>
    <p:extLst>
      <p:ext uri="{BB962C8B-B14F-4D97-AF65-F5344CB8AC3E}">
        <p14:creationId xmlns:p14="http://schemas.microsoft.com/office/powerpoint/2010/main" val="779201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4087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75</TotalTime>
  <Words>737</Words>
  <Application>Microsoft Office PowerPoint</Application>
  <PresentationFormat>Widescreen</PresentationFormat>
  <Paragraphs>59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Times New Roman</vt:lpstr>
      <vt:lpstr>Tw Cen MT</vt:lpstr>
      <vt:lpstr>Circuit</vt:lpstr>
      <vt:lpstr>Computer Vision</vt:lpstr>
      <vt:lpstr>Group Members</vt:lpstr>
      <vt:lpstr>Outlines</vt:lpstr>
      <vt:lpstr>What is Computer Vision?</vt:lpstr>
      <vt:lpstr>How does Computer Vision work? </vt:lpstr>
      <vt:lpstr>Application of Computer Vision? </vt:lpstr>
      <vt:lpstr>Computer Vision in Food Recognition </vt:lpstr>
      <vt:lpstr>Computer Vision in Image Recognition </vt:lpstr>
      <vt:lpstr>Computer vision in Motion Analysis &amp; Tracking </vt:lpstr>
      <vt:lpstr>Advantages and Disadvantages </vt:lpstr>
      <vt:lpstr>PowerPoint Presentation</vt:lpstr>
      <vt:lpstr>Benefits of Computer Vision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 Thiri Paing</dc:creator>
  <cp:lastModifiedBy>Han Set Naing</cp:lastModifiedBy>
  <cp:revision>7</cp:revision>
  <dcterms:created xsi:type="dcterms:W3CDTF">2026-01-19T05:22:54Z</dcterms:created>
  <dcterms:modified xsi:type="dcterms:W3CDTF">2026-01-18T16:28:38Z</dcterms:modified>
</cp:coreProperties>
</file>